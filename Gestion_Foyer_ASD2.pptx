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321B"/>
    <a:srgbClr val="846030"/>
    <a:srgbClr val="7B562D"/>
    <a:srgbClr val="2A1800"/>
    <a:srgbClr val="805C2C"/>
    <a:srgbClr val="F2EAD8"/>
    <a:srgbClr val="8B6340"/>
    <a:srgbClr val="49301A"/>
    <a:srgbClr val="C3A8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10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0531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3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3B2510">
              <a:alpha val="10000"/>
            </a:srgbClr>
          </a:solidFill>
          <a:ln w="12700">
            <a:solidFill>
              <a:srgbClr val="3B25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20040"/>
          </a:xfrm>
          <a:prstGeom prst="rect">
            <a:avLst/>
          </a:prstGeom>
          <a:solidFill>
            <a:srgbClr val="3B2510">
              <a:alpha val="10000"/>
            </a:srgbClr>
          </a:solidFill>
          <a:ln w="12700">
            <a:solidFill>
              <a:srgbClr val="3B25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80160"/>
            <a:ext cx="9144000" cy="320040"/>
          </a:xfrm>
          <a:prstGeom prst="rect">
            <a:avLst/>
          </a:prstGeom>
          <a:solidFill>
            <a:srgbClr val="3B2510">
              <a:alpha val="10000"/>
            </a:srgbClr>
          </a:solidFill>
          <a:ln w="12700">
            <a:solidFill>
              <a:srgbClr val="3B251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20240"/>
            <a:ext cx="9144000" cy="320040"/>
          </a:xfrm>
          <a:prstGeom prst="rect">
            <a:avLst/>
          </a:prstGeom>
          <a:solidFill>
            <a:srgbClr val="3B2510">
              <a:alpha val="10000"/>
            </a:srgbClr>
          </a:solidFill>
          <a:ln w="12700">
            <a:solidFill>
              <a:srgbClr val="3B25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60320"/>
            <a:ext cx="9144000" cy="320040"/>
          </a:xfrm>
          <a:prstGeom prst="rect">
            <a:avLst/>
          </a:prstGeom>
          <a:solidFill>
            <a:srgbClr val="3B2510">
              <a:alpha val="10000"/>
            </a:srgbClr>
          </a:solidFill>
          <a:ln w="12700">
            <a:solidFill>
              <a:srgbClr val="3B251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00400"/>
            <a:ext cx="9144000" cy="320040"/>
          </a:xfrm>
          <a:prstGeom prst="rect">
            <a:avLst/>
          </a:prstGeom>
          <a:solidFill>
            <a:srgbClr val="3B2510">
              <a:alpha val="10000"/>
            </a:srgbClr>
          </a:solidFill>
          <a:ln w="12700">
            <a:solidFill>
              <a:srgbClr val="3B2510"/>
            </a:solidFill>
            <a:prstDash val="solid"/>
          </a:ln>
        </p:spPr>
        <p:txBody>
          <a:bodyPr/>
          <a:lstStyle/>
          <a:p>
            <a:pPr algn="ctr"/>
            <a:endParaRPr lang="fr-FR" sz="1000" dirty="0">
              <a:solidFill>
                <a:srgbClr val="8B634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3840480"/>
            <a:ext cx="9144000" cy="320040"/>
          </a:xfrm>
          <a:prstGeom prst="rect">
            <a:avLst/>
          </a:prstGeom>
          <a:solidFill>
            <a:srgbClr val="3B2510">
              <a:alpha val="10000"/>
            </a:srgbClr>
          </a:solidFill>
          <a:ln w="12700">
            <a:solidFill>
              <a:srgbClr val="3B251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4480560"/>
            <a:ext cx="8549640" cy="320040"/>
          </a:xfrm>
          <a:prstGeom prst="rect">
            <a:avLst/>
          </a:prstGeom>
          <a:solidFill>
            <a:srgbClr val="3B2510">
              <a:alpha val="10000"/>
            </a:srgbClr>
          </a:solidFill>
          <a:ln w="12700">
            <a:solidFill>
              <a:srgbClr val="3B2510"/>
            </a:solidFill>
            <a:prstDash val="solid"/>
          </a:ln>
        </p:spPr>
        <p:txBody>
          <a:bodyPr/>
          <a:lstStyle/>
          <a:p>
            <a:r>
              <a:rPr lang="fr-FR" sz="1600" dirty="0" err="1">
                <a:solidFill>
                  <a:srgbClr val="C3A866"/>
                </a:solidFill>
                <a:latin typeface="Gabriola" panose="04040605051002020D02" pitchFamily="82" charset="0"/>
              </a:rPr>
              <a:t>Abir</a:t>
            </a:r>
            <a:r>
              <a:rPr lang="fr-FR" sz="1600" dirty="0">
                <a:solidFill>
                  <a:srgbClr val="C3A866"/>
                </a:solidFill>
                <a:latin typeface="Gabriola" panose="04040605051002020D02" pitchFamily="82" charset="0"/>
              </a:rPr>
              <a:t> </a:t>
            </a:r>
            <a:r>
              <a:rPr lang="fr-FR" sz="1600" dirty="0" err="1">
                <a:solidFill>
                  <a:srgbClr val="C3A866"/>
                </a:solidFill>
                <a:latin typeface="Gabriola" panose="04040605051002020D02" pitchFamily="82" charset="0"/>
              </a:rPr>
              <a:t>Akkari</a:t>
            </a:r>
            <a:r>
              <a:rPr lang="fr-FR" sz="1600" dirty="0">
                <a:solidFill>
                  <a:srgbClr val="C3A866"/>
                </a:solidFill>
                <a:latin typeface="Gabriola" panose="04040605051002020D02" pitchFamily="82" charset="0"/>
              </a:rPr>
              <a:t> _ Chaima </a:t>
            </a:r>
            <a:r>
              <a:rPr lang="fr-FR" sz="1600" dirty="0" err="1">
                <a:solidFill>
                  <a:srgbClr val="C3A866"/>
                </a:solidFill>
                <a:latin typeface="Gabriola" panose="04040605051002020D02" pitchFamily="82" charset="0"/>
              </a:rPr>
              <a:t>Shili</a:t>
            </a:r>
            <a:r>
              <a:rPr lang="fr-FR" sz="1600" dirty="0">
                <a:solidFill>
                  <a:srgbClr val="C3A866"/>
                </a:solidFill>
                <a:latin typeface="Gabriola" panose="04040605051002020D02" pitchFamily="82" charset="0"/>
              </a:rPr>
              <a:t> _ </a:t>
            </a:r>
            <a:r>
              <a:rPr lang="fr-FR" sz="1600" dirty="0" err="1">
                <a:solidFill>
                  <a:srgbClr val="C3A866"/>
                </a:solidFill>
                <a:latin typeface="Gabriola" panose="04040605051002020D02" pitchFamily="82" charset="0"/>
              </a:rPr>
              <a:t>Tasnim</a:t>
            </a:r>
            <a:r>
              <a:rPr lang="fr-FR" sz="1600" dirty="0">
                <a:solidFill>
                  <a:srgbClr val="C3A866"/>
                </a:solidFill>
                <a:latin typeface="Gabriola" panose="04040605051002020D02" pitchFamily="82" charset="0"/>
              </a:rPr>
              <a:t> </a:t>
            </a:r>
            <a:r>
              <a:rPr lang="fr-FR" sz="1600" dirty="0" err="1">
                <a:solidFill>
                  <a:srgbClr val="C3A866"/>
                </a:solidFill>
                <a:latin typeface="Gabriola" panose="04040605051002020D02" pitchFamily="82" charset="0"/>
              </a:rPr>
              <a:t>Chaikhrouhou</a:t>
            </a:r>
            <a:r>
              <a:rPr lang="fr-FR" sz="1600" dirty="0">
                <a:solidFill>
                  <a:srgbClr val="C3A866"/>
                </a:solidFill>
                <a:latin typeface="Gabriola" panose="04040605051002020D02" pitchFamily="82" charset="0"/>
              </a:rPr>
              <a:t> _ </a:t>
            </a:r>
            <a:r>
              <a:rPr lang="fr-FR" sz="1600" dirty="0" err="1">
                <a:solidFill>
                  <a:srgbClr val="C3A866"/>
                </a:solidFill>
                <a:latin typeface="Gabriola" panose="04040605051002020D02" pitchFamily="82" charset="0"/>
              </a:rPr>
              <a:t>Wiem</a:t>
            </a:r>
            <a:r>
              <a:rPr lang="fr-FR" sz="1600" dirty="0">
                <a:solidFill>
                  <a:srgbClr val="C3A866"/>
                </a:solidFill>
                <a:latin typeface="Gabriola" panose="04040605051002020D02" pitchFamily="82" charset="0"/>
              </a:rPr>
              <a:t> </a:t>
            </a:r>
            <a:r>
              <a:rPr lang="fr-FR" sz="1600" dirty="0" err="1">
                <a:solidFill>
                  <a:srgbClr val="C3A866"/>
                </a:solidFill>
                <a:latin typeface="Gabriola" panose="04040605051002020D02" pitchFamily="82" charset="0"/>
              </a:rPr>
              <a:t>Ounissi</a:t>
            </a:r>
            <a:endParaRPr lang="fr-FR" sz="1600" dirty="0">
              <a:solidFill>
                <a:srgbClr val="C3A866"/>
              </a:solidFill>
              <a:latin typeface="Gabriola" panose="04040605051002020D02" pitchFamily="8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84048" y="822960"/>
            <a:ext cx="36576" cy="3474720"/>
          </a:xfrm>
          <a:prstGeom prst="rect">
            <a:avLst/>
          </a:prstGeom>
          <a:solidFill>
            <a:srgbClr val="C4A24A"/>
          </a:solidFill>
          <a:ln w="12700">
            <a:solidFill>
              <a:srgbClr val="C4A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731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kern="0" spc="600" dirty="0">
                <a:solidFill>
                  <a:srgbClr val="C4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✦ 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109728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D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de Gestion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94360" y="1719072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i="1" dirty="0">
                <a:solidFill>
                  <a:srgbClr val="E8C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Foyer Universitaire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594360" y="2514600"/>
            <a:ext cx="5943600" cy="0"/>
          </a:xfrm>
          <a:prstGeom prst="line">
            <a:avLst/>
          </a:prstGeom>
          <a:noFill/>
          <a:ln w="10160">
            <a:solidFill>
              <a:srgbClr val="C4A2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5176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CC80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logiciel </a:t>
            </a:r>
            <a:r>
              <a:rPr lang="en-US" sz="1300" dirty="0">
                <a:solidFill>
                  <a:srgbClr val="C3A8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</a:t>
            </a:r>
            <a:r>
              <a:rPr lang="en-US" sz="1300" dirty="0">
                <a:solidFill>
                  <a:srgbClr val="E8CC80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 langage C pour la gestion des résidents,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8CC80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chambres, paiements et réclamations d'un foyer universitaire.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493008"/>
            <a:ext cx="1143000" cy="237744"/>
          </a:xfrm>
          <a:prstGeom prst="roundRect">
            <a:avLst>
              <a:gd name="adj" fmla="val 15385"/>
            </a:avLst>
          </a:prstGeom>
          <a:solidFill>
            <a:srgbClr val="D8E8D0"/>
          </a:solidFill>
          <a:ln w="7620">
            <a:solidFill>
              <a:srgbClr val="3A5C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511296"/>
            <a:ext cx="110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3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LANGAGE C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828800" y="3493008"/>
            <a:ext cx="1143000" cy="237744"/>
          </a:xfrm>
          <a:prstGeom prst="roundRect">
            <a:avLst>
              <a:gd name="adj" fmla="val 15385"/>
            </a:avLst>
          </a:prstGeom>
          <a:solidFill>
            <a:srgbClr val="ECDDB8"/>
          </a:solidFill>
          <a:ln w="7620">
            <a:solidFill>
              <a:srgbClr val="9A72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47088" y="3511296"/>
            <a:ext cx="110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9A7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MODULES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063240" y="3493008"/>
            <a:ext cx="1143000" cy="237744"/>
          </a:xfrm>
          <a:prstGeom prst="roundRect">
            <a:avLst>
              <a:gd name="adj" fmla="val 15385"/>
            </a:avLst>
          </a:prstGeom>
          <a:solidFill>
            <a:srgbClr val="D0DCE8"/>
          </a:solidFill>
          <a:ln w="7620">
            <a:solidFill>
              <a:srgbClr val="2E4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81528" y="3511296"/>
            <a:ext cx="110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2E4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STRUCTS &amp; TABLEAUX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297680" y="3493008"/>
            <a:ext cx="1143000" cy="237744"/>
          </a:xfrm>
          <a:prstGeom prst="roundRect">
            <a:avLst>
              <a:gd name="adj" fmla="val 15385"/>
            </a:avLst>
          </a:prstGeom>
          <a:solidFill>
            <a:srgbClr val="E8DFC8"/>
          </a:solidFill>
          <a:ln w="7620">
            <a:solidFill>
              <a:srgbClr val="8B63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3511296"/>
            <a:ext cx="110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 TERMINAL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94360" y="3931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kern="0" spc="600" dirty="0">
                <a:solidFill>
                  <a:srgbClr val="C4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✦ 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4206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Karim Fathallah  ·  1ère année LIG 2025–2026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0" y="365760"/>
            <a:ext cx="2286000" cy="2286000"/>
          </a:xfrm>
          <a:prstGeom prst="ellipse">
            <a:avLst/>
          </a:prstGeom>
          <a:solidFill>
            <a:srgbClr val="4C321B">
              <a:alpha val="0"/>
            </a:srgbClr>
          </a:solidFill>
          <a:ln w="7620">
            <a:solidFill>
              <a:srgbClr val="C4A2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685800"/>
            <a:ext cx="1645920" cy="1645920"/>
          </a:xfrm>
          <a:prstGeom prst="ellipse">
            <a:avLst/>
          </a:prstGeom>
          <a:solidFill>
            <a:srgbClr val="846030">
              <a:alpha val="0"/>
            </a:srgbClr>
          </a:solidFill>
          <a:ln w="5080">
            <a:solidFill>
              <a:srgbClr val="9A72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1188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ASD2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9A7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PRÉSENTATION GÉNÉRALE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application de gestion — définition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0160">
            <a:solidFill>
              <a:srgbClr val="C4A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88720"/>
            <a:ext cx="4023360" cy="1371600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88720"/>
            <a:ext cx="54864" cy="1371600"/>
          </a:xfrm>
          <a:prstGeom prst="rect">
            <a:avLst/>
          </a:prstGeom>
          <a:solidFill>
            <a:srgbClr val="9A7230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🏢  Définition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Logiciel conçu pour centraliser et automatiser la gestion des ressources d'une institution. Il traite une variété de données métier.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1371600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188720"/>
            <a:ext cx="54864" cy="1371600"/>
          </a:xfrm>
          <a:prstGeom prst="rect">
            <a:avLst/>
          </a:prstGeom>
          <a:solidFill>
            <a:srgbClr val="2E4A6E"/>
          </a:solidFill>
          <a:ln w="12700">
            <a:solidFill>
              <a:srgbClr val="2E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🎓  Notre contexte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572768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Foyer universitaire : gestion des résidents, attribution des chambres, suivi des paiements et traitement des réclamations.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743200"/>
            <a:ext cx="4023360" cy="1371600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743200"/>
            <a:ext cx="54864" cy="1371600"/>
          </a:xfrm>
          <a:prstGeom prst="rect">
            <a:avLst/>
          </a:prstGeom>
          <a:solidFill>
            <a:srgbClr val="3A5C2E"/>
          </a:solidFill>
          <a:ln w="12700">
            <a:solidFill>
              <a:srgbClr val="3A5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📦  Structure modulaire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127248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Chaque domaine métier est isolé dans un module indépendant avec ses propres structures de données et fonctions CRUD.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4023360" cy="1371600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743200"/>
            <a:ext cx="54864" cy="1371600"/>
          </a:xfrm>
          <a:prstGeom prst="rect">
            <a:avLst/>
          </a:prstGeom>
          <a:solidFill>
            <a:srgbClr val="7D2E2E"/>
          </a:solidFill>
          <a:ln w="12700">
            <a:solidFill>
              <a:srgbClr val="7D2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Interface terminal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127248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Navigation par menus textuels (console C), authentification sécurisée et affichage tabulaire formaté.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325112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DFD5B8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" y="4343400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Connexion admin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65960" y="43434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4A24A"/>
                </a:solidFill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194560" y="4325112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31136" y="4343400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 principal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0" y="43434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4A24A"/>
                </a:solidFill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886200" y="4325112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22776" y="4343400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49240" y="43434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4A24A"/>
                </a:solidFill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577840" y="4325112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14416" y="4343400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CRUD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40880" y="43434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4A24A"/>
                </a:solidFill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269480" y="4325112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DFD5B8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06056" y="4343400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9A7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Modules fonctionnels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0160">
            <a:solidFill>
              <a:srgbClr val="C4A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234440"/>
            <a:ext cx="1993392" cy="3383280"/>
          </a:xfrm>
          <a:prstGeom prst="rect">
            <a:avLst/>
          </a:prstGeom>
          <a:solidFill>
            <a:srgbClr val="E8DFC8"/>
          </a:solidFill>
          <a:ln w="7620">
            <a:solidFill>
              <a:srgbClr val="C4A2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234440"/>
            <a:ext cx="1993392" cy="73152"/>
          </a:xfrm>
          <a:prstGeom prst="rect">
            <a:avLst/>
          </a:prstGeom>
          <a:solidFill>
            <a:srgbClr val="3A5C2E"/>
          </a:solidFill>
          <a:ln w="12700">
            <a:solidFill>
              <a:srgbClr val="3A5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1417320"/>
            <a:ext cx="822960" cy="822960"/>
          </a:xfrm>
          <a:prstGeom prst="ellipse">
            <a:avLst/>
          </a:prstGeom>
          <a:solidFill>
            <a:srgbClr val="D8E8D0"/>
          </a:solidFill>
          <a:ln w="7620">
            <a:solidFill>
              <a:srgbClr val="3A5C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4630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5488" y="2377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Étudiants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1208" y="2788920"/>
            <a:ext cx="1719072" cy="0"/>
          </a:xfrm>
          <a:prstGeom prst="line">
            <a:avLst/>
          </a:prstGeom>
          <a:noFill/>
          <a:ln w="10160">
            <a:solidFill>
              <a:srgbClr val="C4A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8346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Résidents du foyer —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données personnelles, CIN,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contact, chambre assignée.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4944" y="3840480"/>
            <a:ext cx="1371600" cy="246888"/>
          </a:xfrm>
          <a:prstGeom prst="roundRect">
            <a:avLst>
              <a:gd name="adj" fmla="val 14815"/>
            </a:avLst>
          </a:prstGeom>
          <a:solidFill>
            <a:srgbClr val="D8E8D0"/>
          </a:solidFill>
          <a:ln w="7620">
            <a:solidFill>
              <a:srgbClr val="3A5C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385876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3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MAX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51176" y="1234440"/>
            <a:ext cx="1993392" cy="3383280"/>
          </a:xfrm>
          <a:prstGeom prst="rect">
            <a:avLst/>
          </a:prstGeom>
          <a:solidFill>
            <a:srgbClr val="E8DFC8"/>
          </a:solidFill>
          <a:ln w="7620">
            <a:solidFill>
              <a:srgbClr val="C4A2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1176" y="1234440"/>
            <a:ext cx="1993392" cy="73152"/>
          </a:xfrm>
          <a:prstGeom prst="rect">
            <a:avLst/>
          </a:prstGeom>
          <a:solidFill>
            <a:srgbClr val="2E4A6E"/>
          </a:solidFill>
          <a:ln w="12700">
            <a:solidFill>
              <a:srgbClr val="2E4A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18104" y="1417320"/>
            <a:ext cx="822960" cy="822960"/>
          </a:xfrm>
          <a:prstGeom prst="ellipse">
            <a:avLst/>
          </a:prstGeom>
          <a:solidFill>
            <a:srgbClr val="D0DCE8"/>
          </a:solidFill>
          <a:ln w="7620">
            <a:solidFill>
              <a:srgbClr val="2E4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18104" y="14630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🚪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642616" y="2377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Chambres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88336" y="2788920"/>
            <a:ext cx="1719072" cy="0"/>
          </a:xfrm>
          <a:prstGeom prst="line">
            <a:avLst/>
          </a:prstGeom>
          <a:noFill/>
          <a:ln w="10160">
            <a:solidFill>
              <a:srgbClr val="C4A2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42616" y="28346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Inventaire complet —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type, étage, capacité,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prix mensuel, statut.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62072" y="3840480"/>
            <a:ext cx="1371600" cy="246888"/>
          </a:xfrm>
          <a:prstGeom prst="roundRect">
            <a:avLst>
              <a:gd name="adj" fmla="val 14815"/>
            </a:avLst>
          </a:prstGeom>
          <a:solidFill>
            <a:srgbClr val="D0DCE8"/>
          </a:solidFill>
          <a:ln w="7620">
            <a:solidFill>
              <a:srgbClr val="2E4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62072" y="385876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2E4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MAX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18304" y="1234440"/>
            <a:ext cx="1993392" cy="3383280"/>
          </a:xfrm>
          <a:prstGeom prst="rect">
            <a:avLst/>
          </a:prstGeom>
          <a:solidFill>
            <a:srgbClr val="E8DFC8"/>
          </a:solidFill>
          <a:ln w="7620">
            <a:solidFill>
              <a:srgbClr val="C4A2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18304" y="1234440"/>
            <a:ext cx="1993392" cy="73152"/>
          </a:xfrm>
          <a:prstGeom prst="rect">
            <a:avLst/>
          </a:prstGeom>
          <a:solidFill>
            <a:srgbClr val="9A7230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85232" y="1417320"/>
            <a:ext cx="822960" cy="822960"/>
          </a:xfrm>
          <a:prstGeom prst="ellipse">
            <a:avLst/>
          </a:prstGeom>
          <a:solidFill>
            <a:srgbClr val="ECDDB8"/>
          </a:solidFill>
          <a:ln w="7620">
            <a:solidFill>
              <a:srgbClr val="9A72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85232" y="14630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09744" y="2377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Paiements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55464" y="2788920"/>
            <a:ext cx="1719072" cy="0"/>
          </a:xfrm>
          <a:prstGeom prst="line">
            <a:avLst/>
          </a:prstGeom>
          <a:noFill/>
          <a:ln w="10160">
            <a:solidFill>
              <a:srgbClr val="C4A2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9744" y="28346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Suivi financier —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montant, mode, date,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statut payé/attente.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0" y="3840480"/>
            <a:ext cx="1371600" cy="246888"/>
          </a:xfrm>
          <a:prstGeom prst="roundRect">
            <a:avLst>
              <a:gd name="adj" fmla="val 14815"/>
            </a:avLst>
          </a:prstGeom>
          <a:solidFill>
            <a:srgbClr val="ECDDB8"/>
          </a:solidFill>
          <a:ln w="7620">
            <a:solidFill>
              <a:srgbClr val="9A72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85876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9A7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 MAX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85432" y="1234440"/>
            <a:ext cx="1993392" cy="3383280"/>
          </a:xfrm>
          <a:prstGeom prst="rect">
            <a:avLst/>
          </a:prstGeom>
          <a:solidFill>
            <a:srgbClr val="E8DFC8"/>
          </a:solidFill>
          <a:ln w="7620">
            <a:solidFill>
              <a:srgbClr val="C4A2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85432" y="1234440"/>
            <a:ext cx="1993392" cy="73152"/>
          </a:xfrm>
          <a:prstGeom prst="rect">
            <a:avLst/>
          </a:prstGeom>
          <a:solidFill>
            <a:srgbClr val="7D2E2E"/>
          </a:solidFill>
          <a:ln w="12700">
            <a:solidFill>
              <a:srgbClr val="7D2E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52360" y="1417320"/>
            <a:ext cx="822960" cy="822960"/>
          </a:xfrm>
          <a:prstGeom prst="ellipse">
            <a:avLst/>
          </a:prstGeom>
          <a:solidFill>
            <a:srgbClr val="E8D0D0"/>
          </a:solidFill>
          <a:ln w="7620">
            <a:solidFill>
              <a:srgbClr val="7D2E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14630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976872" y="2377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Réclamations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022592" y="2788920"/>
            <a:ext cx="1719072" cy="0"/>
          </a:xfrm>
          <a:prstGeom prst="line">
            <a:avLst/>
          </a:prstGeom>
          <a:noFill/>
          <a:ln w="10160">
            <a:solidFill>
              <a:srgbClr val="C4A2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76872" y="28346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Tickets de problèmes —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type, priorité, cycle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ouvert → résolu.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196328" y="3840480"/>
            <a:ext cx="1371600" cy="246888"/>
          </a:xfrm>
          <a:prstGeom prst="roundRect">
            <a:avLst>
              <a:gd name="adj" fmla="val 14815"/>
            </a:avLst>
          </a:prstGeom>
          <a:solidFill>
            <a:srgbClr val="E8D0D0"/>
          </a:solidFill>
          <a:ln w="7620">
            <a:solidFill>
              <a:srgbClr val="7D2E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96328" y="385876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7D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MAX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84048" y="4709160"/>
            <a:ext cx="8375904" cy="256032"/>
          </a:xfrm>
          <a:prstGeom prst="rect">
            <a:avLst/>
          </a:prstGeom>
          <a:solidFill>
            <a:srgbClr val="EDE5CC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72744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Chaque module intègre : Ajout · Affichage · Recherche · Modification · Suppression + fonctions métier spécialisées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9A7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STRUCTURES DE DONNÉES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92760" y="47548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 de données en C — les 4 structs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8138160" cy="0"/>
          </a:xfrm>
          <a:prstGeom prst="line">
            <a:avLst/>
          </a:prstGeom>
          <a:noFill/>
          <a:ln w="10160">
            <a:solidFill>
              <a:srgbClr val="C4A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115568"/>
            <a:ext cx="4160520" cy="1828800"/>
          </a:xfrm>
          <a:prstGeom prst="rect">
            <a:avLst/>
          </a:prstGeom>
          <a:solidFill>
            <a:srgbClr val="2A1800"/>
          </a:solidFill>
          <a:ln w="7620">
            <a:solidFill>
              <a:srgbClr val="9A72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704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4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1 — RÉSIDENT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75488" y="1371600"/>
            <a:ext cx="3977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 id;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 nom[50], prenom[50];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 cin[15];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 email[60];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 chambre_id; /* 0=libre */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 statut[20];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Etudiant;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36592" y="1115568"/>
            <a:ext cx="4160520" cy="1828800"/>
          </a:xfrm>
          <a:prstGeom prst="rect">
            <a:avLst/>
          </a:prstGeom>
          <a:solidFill>
            <a:srgbClr val="2A1800"/>
          </a:solidFill>
          <a:ln w="7620">
            <a:solidFill>
              <a:srgbClr val="9A723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Text 7"/>
          <p:cNvSpPr/>
          <p:nvPr/>
        </p:nvSpPr>
        <p:spPr>
          <a:xfrm>
            <a:off x="4828032" y="11704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4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2 — CHAMBRE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828032" y="1371600"/>
            <a:ext cx="3977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 id;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 numero[10]; /* A101 */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 type[20];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prix_mensuel;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 capacite, nb_occupants;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 statut[20];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Chambre;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3063240"/>
            <a:ext cx="4160520" cy="1828800"/>
          </a:xfrm>
          <a:prstGeom prst="rect">
            <a:avLst/>
          </a:prstGeom>
          <a:solidFill>
            <a:srgbClr val="2A1800"/>
          </a:solidFill>
          <a:ln w="7620">
            <a:solidFill>
              <a:srgbClr val="9A72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1181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4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3 — PAIEMENT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75488" y="3319272"/>
            <a:ext cx="3977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 id, etudiant_id;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montant;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 mois[20];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 mode[20];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 statut[20];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Paiement;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36592" y="3063240"/>
            <a:ext cx="4160520" cy="1828800"/>
          </a:xfrm>
          <a:prstGeom prst="rect">
            <a:avLst/>
          </a:prstGeom>
          <a:solidFill>
            <a:srgbClr val="2A1800"/>
          </a:solidFill>
          <a:ln w="7620">
            <a:solidFill>
              <a:srgbClr val="9A72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31181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4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4 — RÉCLAMATION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828032" y="3319272"/>
            <a:ext cx="3977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 id, etudiant_id;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 type[40];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 description[200];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 priorite[15];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 statut[20];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Reclamation;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989072" cy="274320"/>
          </a:xfrm>
          <a:prstGeom prst="rect">
            <a:avLst/>
          </a:prstGeom>
          <a:solidFill>
            <a:srgbClr val="DFD5B8"/>
          </a:solidFill>
          <a:ln w="7620">
            <a:solidFill>
              <a:srgbClr val="9A72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"/>
            <a:ext cx="98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A7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</a:t>
            </a:r>
            <a:r>
              <a:rPr lang="en-US" sz="900" b="1" kern="0" spc="200" dirty="0">
                <a:solidFill>
                  <a:srgbClr val="9A7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534160" y="2743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 des Étudiants résidents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Fonctions &amp; logique du module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8138160" cy="0"/>
          </a:xfrm>
          <a:prstGeom prst="line">
            <a:avLst/>
          </a:prstGeom>
          <a:noFill/>
          <a:ln w="10160">
            <a:solidFill>
              <a:srgbClr val="C4A2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07008"/>
            <a:ext cx="4572000" cy="38404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35024"/>
            <a:ext cx="128016" cy="128016"/>
          </a:xfrm>
          <a:prstGeom prst="ellipse">
            <a:avLst/>
          </a:prstGeom>
          <a:solidFill>
            <a:srgbClr val="3A5C2E"/>
          </a:solidFill>
          <a:ln w="12700">
            <a:solidFill>
              <a:srgbClr val="3A5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261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ajouter_etudiant()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07792" y="127101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Saisie + auto-ID incrémental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1691640"/>
            <a:ext cx="4572000" cy="38404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819656"/>
            <a:ext cx="128016" cy="128016"/>
          </a:xfrm>
          <a:prstGeom prst="ellipse">
            <a:avLst/>
          </a:prstGeom>
          <a:solidFill>
            <a:srgbClr val="2E4A6E"/>
          </a:solidFill>
          <a:ln w="12700">
            <a:solidFill>
              <a:srgbClr val="2E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17465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rechercher_etudiant()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07792" y="175564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 ID ou nom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2176272"/>
            <a:ext cx="4572000" cy="38404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304288"/>
            <a:ext cx="128016" cy="128016"/>
          </a:xfrm>
          <a:prstGeom prst="ellipse">
            <a:avLst/>
          </a:prstGeom>
          <a:solidFill>
            <a:srgbClr val="9A7230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2311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modifier_etudiant()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07792" y="224028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Mise à jour des champs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2660904"/>
            <a:ext cx="4572000" cy="38404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788920"/>
            <a:ext cx="128016" cy="128016"/>
          </a:xfrm>
          <a:prstGeom prst="ellipse">
            <a:avLst/>
          </a:prstGeom>
          <a:solidFill>
            <a:srgbClr val="7D2E2E"/>
          </a:solidFill>
          <a:ln w="12700">
            <a:solidFill>
              <a:srgbClr val="7D2E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2715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supprimer_etudiant()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07792" y="272491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Libère la chambre associée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3145536"/>
            <a:ext cx="4572000" cy="38404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273552"/>
            <a:ext cx="128016" cy="12801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assigner_chambre()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07792" y="320954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Lien étudiant ↔ chambre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4048" y="3630168"/>
            <a:ext cx="4572000" cy="38404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758184"/>
            <a:ext cx="128016" cy="128016"/>
          </a:xfrm>
          <a:prstGeom prst="ellipse">
            <a:avLst/>
          </a:prstGeom>
          <a:solidFill>
            <a:srgbClr val="2E4A6E"/>
          </a:solidFill>
          <a:ln w="12700">
            <a:solidFill>
              <a:srgbClr val="2E4A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" y="3685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afficher_tous_etudiants()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07792" y="369417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formaté complet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66360" y="1207008"/>
            <a:ext cx="3593592" cy="1188720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6360" y="1207008"/>
            <a:ext cx="54864" cy="1188720"/>
          </a:xfrm>
          <a:prstGeom prst="rect">
            <a:avLst/>
          </a:prstGeom>
          <a:solidFill>
            <a:srgbClr val="9A7230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12618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Champ clé : chambre_id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157276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Valeur 0 = pas de chambre assignée. Ce lien permet de récupérer le numéro de chambre via une boucle dans tab_chambres[].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166360" y="2514600"/>
            <a:ext cx="3593592" cy="685800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66360" y="2514600"/>
            <a:ext cx="54864" cy="685800"/>
          </a:xfrm>
          <a:prstGeom prst="rect">
            <a:avLst/>
          </a:prstGeom>
          <a:solidFill>
            <a:srgbClr val="3A5C2E"/>
          </a:solidFill>
          <a:ln w="12700">
            <a:solidFill>
              <a:srgbClr val="3A5C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0" y="25603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Statuts du résident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349240" y="2852928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D8E8D0"/>
          </a:solidFill>
          <a:ln w="6350">
            <a:solidFill>
              <a:srgbClr val="3A5C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0" y="28712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3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ACTIF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446520" y="2852928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ECDDB8"/>
          </a:solidFill>
          <a:ln w="6350">
            <a:solidFill>
              <a:srgbClr val="9A72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28712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9A7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INACTIF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166360" y="3310128"/>
            <a:ext cx="3593592" cy="868680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66360" y="3310128"/>
            <a:ext cx="54864" cy="868680"/>
          </a:xfrm>
          <a:prstGeom prst="rect">
            <a:avLst/>
          </a:prstGeom>
          <a:solidFill>
            <a:srgbClr val="2E4A6E"/>
          </a:solidFill>
          <a:ln w="12700">
            <a:solidFill>
              <a:srgbClr val="2E4A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0" y="33649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global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03520" y="363931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Etudiant  tab_etudiants[100];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nb_etudiants = 0;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84048" y="4297680"/>
            <a:ext cx="8375904" cy="274320"/>
          </a:xfrm>
          <a:prstGeom prst="rect">
            <a:avLst/>
          </a:prstGeom>
          <a:solidFill>
            <a:srgbClr val="EDE5CC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32511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tableau global tab_etudiants[] stocke jusqu'à 100 résidents en mémoire. nb_etudiants suit le nombre courant.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47396"/>
            <a:ext cx="2623312" cy="274320"/>
          </a:xfrm>
          <a:prstGeom prst="rect">
            <a:avLst/>
          </a:prstGeom>
          <a:solidFill>
            <a:srgbClr val="DFD5B8"/>
          </a:solidFill>
          <a:ln w="7620">
            <a:solidFill>
              <a:srgbClr val="2E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62788" y="283465"/>
            <a:ext cx="98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E4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 </a:t>
            </a:r>
            <a:r>
              <a:rPr lang="en-US" sz="900" b="1" kern="0" spc="200" dirty="0">
                <a:solidFill>
                  <a:srgbClr val="2E4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618488" y="2529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 des Chambres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Inventaire &amp; gestion des espaces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8138160" cy="0"/>
          </a:xfrm>
          <a:prstGeom prst="line">
            <a:avLst/>
          </a:prstGeom>
          <a:noFill/>
          <a:ln w="10160">
            <a:solidFill>
              <a:srgbClr val="C4A2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07008"/>
            <a:ext cx="4572000" cy="38404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35024"/>
            <a:ext cx="128016" cy="128016"/>
          </a:xfrm>
          <a:prstGeom prst="ellipse">
            <a:avLst/>
          </a:prstGeom>
          <a:solidFill>
            <a:srgbClr val="3A5C2E"/>
          </a:solidFill>
          <a:ln w="12700">
            <a:solidFill>
              <a:srgbClr val="3A5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261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ajouter_chambre()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07792" y="127101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Numéro, type, prix, étage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1691640"/>
            <a:ext cx="4572000" cy="38404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819656"/>
            <a:ext cx="128016" cy="128016"/>
          </a:xfrm>
          <a:prstGeom prst="ellipse">
            <a:avLst/>
          </a:prstGeom>
          <a:solidFill>
            <a:srgbClr val="2E4A6E"/>
          </a:solidFill>
          <a:ln w="12700">
            <a:solidFill>
              <a:srgbClr val="2E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17465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rechercher_chambre()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07792" y="175564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 numéro ou statut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2176272"/>
            <a:ext cx="4572000" cy="38404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304288"/>
            <a:ext cx="128016" cy="128016"/>
          </a:xfrm>
          <a:prstGeom prst="ellipse">
            <a:avLst/>
          </a:prstGeom>
          <a:solidFill>
            <a:srgbClr val="9A7230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2311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modifier_chambre()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07792" y="224028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Mise à jour des infos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2660904"/>
            <a:ext cx="4572000" cy="38404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788920"/>
            <a:ext cx="128016" cy="128016"/>
          </a:xfrm>
          <a:prstGeom prst="ellipse">
            <a:avLst/>
          </a:prstGeom>
          <a:solidFill>
            <a:srgbClr val="7D2E2E"/>
          </a:solidFill>
          <a:ln w="12700">
            <a:solidFill>
              <a:srgbClr val="7D2E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2715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supprimer_chambre()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07792" y="272491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Vérifie les occupants d'abord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3145536"/>
            <a:ext cx="4572000" cy="38404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273552"/>
            <a:ext cx="128016" cy="128016"/>
          </a:xfrm>
          <a:prstGeom prst="ellipse">
            <a:avLst/>
          </a:prstGeom>
          <a:solidFill>
            <a:srgbClr val="2E4A6E"/>
          </a:solidFill>
          <a:ln w="12700">
            <a:solidFill>
              <a:srgbClr val="2E4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afficher_toutes_chambres()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07792" y="320954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Liste complète formatée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66360" y="1207008"/>
            <a:ext cx="3593592" cy="1051560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1207008"/>
            <a:ext cx="54864" cy="1051560"/>
          </a:xfrm>
          <a:prstGeom prst="rect">
            <a:avLst/>
          </a:prstGeom>
          <a:solidFill>
            <a:srgbClr val="2E4A6E"/>
          </a:solidFill>
          <a:ln w="12700">
            <a:solidFill>
              <a:srgbClr val="2E4A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12618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de chambre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21808" y="1572768"/>
            <a:ext cx="896112" cy="594360"/>
          </a:xfrm>
          <a:prstGeom prst="rect">
            <a:avLst/>
          </a:prstGeom>
          <a:solidFill>
            <a:srgbClr val="DFD5B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21808" y="1591056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🛏️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21808" y="186537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355080" y="1572768"/>
            <a:ext cx="896112" cy="594360"/>
          </a:xfrm>
          <a:prstGeom prst="rect">
            <a:avLst/>
          </a:prstGeom>
          <a:solidFill>
            <a:srgbClr val="DFD5B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591056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🛏️🛏️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55080" y="186537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388352" y="1572768"/>
            <a:ext cx="896112" cy="594360"/>
          </a:xfrm>
          <a:prstGeom prst="rect">
            <a:avLst/>
          </a:prstGeom>
          <a:solidFill>
            <a:srgbClr val="DFD5B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88352" y="1591056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🛏️🛏️🛏️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88352" y="186537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TRIPLE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66360" y="2377440"/>
            <a:ext cx="3593592" cy="1005840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66360" y="2377440"/>
            <a:ext cx="54864" cy="1005840"/>
          </a:xfrm>
          <a:prstGeom prst="rect">
            <a:avLst/>
          </a:prstGeom>
          <a:solidFill>
            <a:srgbClr val="3A5C2E"/>
          </a:solidFill>
          <a:ln w="12700">
            <a:solidFill>
              <a:srgbClr val="3A5C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0" y="24323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 de statut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321808" y="2743200"/>
            <a:ext cx="1024128" cy="237744"/>
          </a:xfrm>
          <a:prstGeom prst="roundRect">
            <a:avLst>
              <a:gd name="adj" fmla="val 15385"/>
            </a:avLst>
          </a:prstGeom>
          <a:solidFill>
            <a:srgbClr val="D8E8D0"/>
          </a:solidFill>
          <a:ln w="7620">
            <a:solidFill>
              <a:srgbClr val="3A5C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58384" y="276148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3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DISPONIBLE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364224" y="2761488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4A24A"/>
                </a:solidFill>
              </a:rPr>
              <a:t>→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83096" y="2743200"/>
            <a:ext cx="1024128" cy="237744"/>
          </a:xfrm>
          <a:prstGeom prst="roundRect">
            <a:avLst>
              <a:gd name="adj" fmla="val 15385"/>
            </a:avLst>
          </a:prstGeom>
          <a:solidFill>
            <a:srgbClr val="D0DCE8"/>
          </a:solidFill>
          <a:ln w="7620">
            <a:solidFill>
              <a:srgbClr val="2E4A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19672" y="276148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2E4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OCCUPÉE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525512" y="2761488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4A24A"/>
                </a:solidFill>
              </a:rPr>
              <a:t>→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644384" y="2743200"/>
            <a:ext cx="1024128" cy="237744"/>
          </a:xfrm>
          <a:prstGeom prst="roundRect">
            <a:avLst>
              <a:gd name="adj" fmla="val 15385"/>
            </a:avLst>
          </a:prstGeom>
          <a:solidFill>
            <a:srgbClr val="ECDDB8"/>
          </a:solidFill>
          <a:ln w="7620">
            <a:solidFill>
              <a:srgbClr val="9A723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80960" y="276148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9A7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MAINTENANCE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166360" y="3493008"/>
            <a:ext cx="3593592" cy="731520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66360" y="3493008"/>
            <a:ext cx="54864" cy="731520"/>
          </a:xfrm>
          <a:prstGeom prst="rect">
            <a:avLst/>
          </a:prstGeom>
          <a:solidFill>
            <a:srgbClr val="9A7230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03520" y="35478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Informations tarifaires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303520" y="38221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Prix mensuel en DT · Capacité et nombre d'occupants suivis en temps réel.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2505456" cy="274320"/>
          </a:xfrm>
          <a:prstGeom prst="rect">
            <a:avLst/>
          </a:prstGeom>
          <a:solidFill>
            <a:srgbClr val="DFD5B8"/>
          </a:solidFill>
          <a:ln w="7620">
            <a:solidFill>
              <a:srgbClr val="9A72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84480"/>
            <a:ext cx="965200" cy="210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A7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527048" y="265177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 des Paiements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Suivi financier des résidents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8138160" cy="0"/>
          </a:xfrm>
          <a:prstGeom prst="line">
            <a:avLst/>
          </a:prstGeom>
          <a:noFill/>
          <a:ln w="10160">
            <a:solidFill>
              <a:srgbClr val="C4A2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07008"/>
            <a:ext cx="4572000" cy="38404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35024"/>
            <a:ext cx="128016" cy="128016"/>
          </a:xfrm>
          <a:prstGeom prst="ellipse">
            <a:avLst/>
          </a:prstGeom>
          <a:solidFill>
            <a:srgbClr val="3A5C2E"/>
          </a:solidFill>
          <a:ln w="12700">
            <a:solidFill>
              <a:srgbClr val="3A5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261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ajouter_paiement()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07792" y="127101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Montant, mois, mode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1691640"/>
            <a:ext cx="4572000" cy="38404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819656"/>
            <a:ext cx="128016" cy="128016"/>
          </a:xfrm>
          <a:prstGeom prst="ellipse">
            <a:avLst/>
          </a:prstGeom>
          <a:solidFill>
            <a:srgbClr val="2E4A6E"/>
          </a:solidFill>
          <a:ln w="12700">
            <a:solidFill>
              <a:srgbClr val="2E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17465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rechercher_paiement()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07792" y="175564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 étudiant ou statut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2176272"/>
            <a:ext cx="4572000" cy="38404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304288"/>
            <a:ext cx="128016" cy="128016"/>
          </a:xfrm>
          <a:prstGeom prst="ellipse">
            <a:avLst/>
          </a:prstGeom>
          <a:solidFill>
            <a:srgbClr val="9A7230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2311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modifier_paiement()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07792" y="224028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Correction d'une entrée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2660904"/>
            <a:ext cx="4572000" cy="38404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788920"/>
            <a:ext cx="128016" cy="128016"/>
          </a:xfrm>
          <a:prstGeom prst="ellipse">
            <a:avLst/>
          </a:prstGeom>
          <a:solidFill>
            <a:srgbClr val="7D2E2E"/>
          </a:solidFill>
          <a:ln w="12700">
            <a:solidFill>
              <a:srgbClr val="7D2E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2715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supprimer_paiement()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07792" y="272491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Annulation d'un paiement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3145536"/>
            <a:ext cx="4572000" cy="38404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273552"/>
            <a:ext cx="128016" cy="12801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bilan_financier()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07792" y="320954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Totaux par statut en DT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66360" y="1207008"/>
            <a:ext cx="3685032" cy="731520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1207008"/>
            <a:ext cx="54864" cy="731520"/>
          </a:xfrm>
          <a:prstGeom prst="rect">
            <a:avLst/>
          </a:prstGeom>
          <a:solidFill>
            <a:srgbClr val="9A7230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12618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Modes de paiement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21808" y="1591056"/>
            <a:ext cx="1024128" cy="219456"/>
          </a:xfrm>
          <a:prstGeom prst="roundRect">
            <a:avLst>
              <a:gd name="adj" fmla="val 16667"/>
            </a:avLst>
          </a:prstGeom>
          <a:solidFill>
            <a:srgbClr val="E8DFC8"/>
          </a:solidFill>
          <a:ln w="7620">
            <a:solidFill>
              <a:srgbClr val="8B63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67528" y="160934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ESPÈCES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483096" y="1591056"/>
            <a:ext cx="1024128" cy="219456"/>
          </a:xfrm>
          <a:prstGeom prst="roundRect">
            <a:avLst>
              <a:gd name="adj" fmla="val 16667"/>
            </a:avLst>
          </a:prstGeom>
          <a:solidFill>
            <a:srgbClr val="D0DCE8"/>
          </a:solidFill>
          <a:ln w="7620">
            <a:solidFill>
              <a:srgbClr val="2E4A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28816" y="160934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2E4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VIREMENT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644384" y="1591056"/>
            <a:ext cx="1024128" cy="219456"/>
          </a:xfrm>
          <a:prstGeom prst="roundRect">
            <a:avLst>
              <a:gd name="adj" fmla="val 16667"/>
            </a:avLst>
          </a:prstGeom>
          <a:solidFill>
            <a:srgbClr val="ECDDB8"/>
          </a:solidFill>
          <a:ln w="7620">
            <a:solidFill>
              <a:srgbClr val="9A72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90104" y="160934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9A7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CHÈQUE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166360" y="2048256"/>
            <a:ext cx="3685032" cy="1645920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66360" y="2048256"/>
            <a:ext cx="54864" cy="1645920"/>
          </a:xfrm>
          <a:prstGeom prst="rect">
            <a:avLst/>
          </a:prstGeom>
          <a:solidFill>
            <a:srgbClr val="7D2E2E"/>
          </a:solidFill>
          <a:ln w="12700">
            <a:solidFill>
              <a:srgbClr val="7D2E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0" y="2103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Répartition des statuts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03520" y="24323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Payé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55080" y="2468880"/>
            <a:ext cx="2194560" cy="146304"/>
          </a:xfrm>
          <a:prstGeom prst="rect">
            <a:avLst/>
          </a:prstGeom>
          <a:solidFill>
            <a:srgbClr val="DFD5B8"/>
          </a:solidFill>
          <a:ln w="5080">
            <a:solidFill>
              <a:srgbClr val="C4A2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5080" y="2468880"/>
            <a:ext cx="1316736" cy="146304"/>
          </a:xfrm>
          <a:prstGeom prst="rect">
            <a:avLst/>
          </a:prstGeom>
          <a:solidFill>
            <a:srgbClr val="3A5C2E"/>
          </a:solidFill>
          <a:ln w="12700">
            <a:solidFill>
              <a:srgbClr val="3A5C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77072" y="243230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03520" y="28163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attente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55080" y="2852928"/>
            <a:ext cx="2194560" cy="146304"/>
          </a:xfrm>
          <a:prstGeom prst="rect">
            <a:avLst/>
          </a:prstGeom>
          <a:solidFill>
            <a:srgbClr val="DFD5B8"/>
          </a:solidFill>
          <a:ln w="5080">
            <a:solidFill>
              <a:srgbClr val="C4A2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55080" y="2852928"/>
            <a:ext cx="548640" cy="146304"/>
          </a:xfrm>
          <a:prstGeom prst="rect">
            <a:avLst/>
          </a:prstGeom>
          <a:solidFill>
            <a:srgbClr val="2E4A6E"/>
          </a:solidFill>
          <a:ln w="12700">
            <a:solidFill>
              <a:srgbClr val="2E4A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77072" y="28163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03520" y="32004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Retard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55080" y="3236976"/>
            <a:ext cx="2194560" cy="146304"/>
          </a:xfrm>
          <a:prstGeom prst="rect">
            <a:avLst/>
          </a:prstGeom>
          <a:solidFill>
            <a:srgbClr val="DFD5B8"/>
          </a:solidFill>
          <a:ln w="5080">
            <a:solidFill>
              <a:srgbClr val="C4A2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55080" y="3236976"/>
            <a:ext cx="329184" cy="146304"/>
          </a:xfrm>
          <a:prstGeom prst="rect">
            <a:avLst/>
          </a:prstGeom>
          <a:solidFill>
            <a:srgbClr val="7D2E2E"/>
          </a:solidFill>
          <a:ln w="12700">
            <a:solidFill>
              <a:srgbClr val="7D2E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77072" y="32004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166360" y="3803904"/>
            <a:ext cx="3685032" cy="594360"/>
          </a:xfrm>
          <a:prstGeom prst="rect">
            <a:avLst/>
          </a:prstGeom>
          <a:solidFill>
            <a:srgbClr val="EDE5CC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03520" y="3858768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Données de démo préchargées au démarrage via charger_donnees_demo() pour test immédiat.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2651760" cy="274320"/>
          </a:xfrm>
          <a:prstGeom prst="rect">
            <a:avLst/>
          </a:prstGeom>
          <a:solidFill>
            <a:srgbClr val="DFD5B8"/>
          </a:solidFill>
          <a:ln w="7620">
            <a:solidFill>
              <a:srgbClr val="7D2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63296" y="274320"/>
            <a:ext cx="1016000" cy="210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7D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546352" y="2560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 des Réclamations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Traitement des tickets &amp; problèmes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8138160" cy="0"/>
          </a:xfrm>
          <a:prstGeom prst="line">
            <a:avLst/>
          </a:prstGeom>
          <a:noFill/>
          <a:ln w="10160">
            <a:solidFill>
              <a:srgbClr val="C4A2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07008"/>
            <a:ext cx="4572000" cy="38404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35024"/>
            <a:ext cx="128016" cy="128016"/>
          </a:xfrm>
          <a:prstGeom prst="ellipse">
            <a:avLst/>
          </a:prstGeom>
          <a:solidFill>
            <a:srgbClr val="3A5C2E"/>
          </a:solidFill>
          <a:ln w="12700">
            <a:solidFill>
              <a:srgbClr val="3A5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261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ajouter_reclamation()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0" y="127101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Type, priorité, description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1691640"/>
            <a:ext cx="4572000" cy="38404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819656"/>
            <a:ext cx="128016" cy="128016"/>
          </a:xfrm>
          <a:prstGeom prst="ellipse">
            <a:avLst/>
          </a:prstGeom>
          <a:solidFill>
            <a:srgbClr val="2E4A6E"/>
          </a:solidFill>
          <a:ln w="12700">
            <a:solidFill>
              <a:srgbClr val="2E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1746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rechercher_reclamation()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175564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 étudiant ou type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2176272"/>
            <a:ext cx="4572000" cy="38404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304288"/>
            <a:ext cx="128016" cy="12801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231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changer_statut_reclamation()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17520" y="224028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de résolution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2660904"/>
            <a:ext cx="4572000" cy="38404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788920"/>
            <a:ext cx="128016" cy="128016"/>
          </a:xfrm>
          <a:prstGeom prst="ellipse">
            <a:avLst/>
          </a:prstGeom>
          <a:solidFill>
            <a:srgbClr val="9A7230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2715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modifier_reclamation()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17520" y="272491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Mise à jour complète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3145536"/>
            <a:ext cx="4572000" cy="38404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273552"/>
            <a:ext cx="128016" cy="128016"/>
          </a:xfrm>
          <a:prstGeom prst="ellipse">
            <a:avLst/>
          </a:prstGeom>
          <a:solidFill>
            <a:srgbClr val="7D2E2E"/>
          </a:solidFill>
          <a:ln w="12700">
            <a:solidFill>
              <a:srgbClr val="7D2E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supprimer_reclamation()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017520" y="3209544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Fermeture définitive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66360" y="1207008"/>
            <a:ext cx="3668776" cy="1828800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1207008"/>
            <a:ext cx="54864" cy="1828800"/>
          </a:xfrm>
          <a:prstGeom prst="rect">
            <a:avLst/>
          </a:prstGeom>
          <a:solidFill>
            <a:srgbClr val="7D2E2E"/>
          </a:solidFill>
          <a:ln w="12700">
            <a:solidFill>
              <a:srgbClr val="7D2E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12618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 de vie d'un ticket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03520" y="1591056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D0DCE8"/>
          </a:solidFill>
          <a:ln w="7620">
            <a:solidFill>
              <a:srgbClr val="2E4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21808" y="160934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2E4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OUVERTE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263640" y="160934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signalée par le résident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03520" y="1938528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ECDDB8"/>
          </a:solidFill>
          <a:ln w="7620">
            <a:solidFill>
              <a:srgbClr val="9A72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21808" y="195681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9A7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COURS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63640" y="195681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prise en charge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03520" y="2286000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D8E8D0"/>
          </a:solidFill>
          <a:ln w="7620">
            <a:solidFill>
              <a:srgbClr val="3A5C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21808" y="230428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3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RÉSOLUE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263640" y="230428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problème traité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03520" y="2633472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E8DFC8"/>
          </a:solidFill>
          <a:ln w="7620">
            <a:solidFill>
              <a:srgbClr val="8B63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21808" y="265176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FERMÉE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263640" y="26517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archivée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66360" y="3145536"/>
            <a:ext cx="3668776" cy="640080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66360" y="3145536"/>
            <a:ext cx="54864" cy="640080"/>
          </a:xfrm>
          <a:prstGeom prst="rect">
            <a:avLst/>
          </a:prstGeom>
          <a:solidFill>
            <a:srgbClr val="9A7230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0" y="32004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de réclamation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321808" y="3511296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DFD5B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40096" y="352044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Plomberie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199632" y="3511296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DFD5B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352044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Électricité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077456" y="3511296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DFD5B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95744" y="352044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Bruit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955280" y="3511296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DFD5B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73568" y="352044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Autre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166360" y="3909060"/>
            <a:ext cx="3668776" cy="502920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66360" y="3895344"/>
            <a:ext cx="54864" cy="502920"/>
          </a:xfrm>
          <a:prstGeom prst="rect">
            <a:avLst/>
          </a:prstGeom>
          <a:solidFill>
            <a:srgbClr val="5C3D1E"/>
          </a:solidFill>
          <a:ln w="12700">
            <a:solidFill>
              <a:srgbClr val="5C3D1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0" y="395020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Priorités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321808" y="4160520"/>
            <a:ext cx="1024128" cy="201168"/>
          </a:xfrm>
          <a:prstGeom prst="roundRect">
            <a:avLst>
              <a:gd name="adj" fmla="val 18182"/>
            </a:avLst>
          </a:prstGeom>
          <a:solidFill>
            <a:srgbClr val="E8D0D0"/>
          </a:solidFill>
          <a:ln w="7620">
            <a:solidFill>
              <a:srgbClr val="7D2E2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58384" y="417880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7D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HAUTE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483096" y="4160520"/>
            <a:ext cx="1024128" cy="201168"/>
          </a:xfrm>
          <a:prstGeom prst="roundRect">
            <a:avLst>
              <a:gd name="adj" fmla="val 18182"/>
            </a:avLst>
          </a:prstGeom>
          <a:solidFill>
            <a:srgbClr val="ECDDB8"/>
          </a:solidFill>
          <a:ln w="7620">
            <a:solidFill>
              <a:srgbClr val="9A723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19672" y="417880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9A7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MOYENNE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644384" y="4160520"/>
            <a:ext cx="1024128" cy="201168"/>
          </a:xfrm>
          <a:prstGeom prst="roundRect">
            <a:avLst>
              <a:gd name="adj" fmla="val 18182"/>
            </a:avLst>
          </a:prstGeom>
          <a:solidFill>
            <a:srgbClr val="D8E8D0"/>
          </a:solidFill>
          <a:ln w="7620">
            <a:solidFill>
              <a:srgbClr val="3A5C2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80960" y="417880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3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BASSE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9A7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SÉCURITÉ &amp; NAVIGATION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84048" y="47548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Authentification &amp; Système de menus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8138160" cy="0"/>
          </a:xfrm>
          <a:prstGeom prst="line">
            <a:avLst/>
          </a:prstGeom>
          <a:noFill/>
          <a:ln w="10160">
            <a:solidFill>
              <a:srgbClr val="C4A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115568"/>
            <a:ext cx="4160520" cy="1417320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115568"/>
            <a:ext cx="54864" cy="1417320"/>
          </a:xfrm>
          <a:prstGeom prst="rect">
            <a:avLst/>
          </a:prstGeom>
          <a:solidFill>
            <a:srgbClr val="9A7230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1704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🔐  Authentification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4813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Système de connexion sécurisé avec 3 tentatives maximum avant blocage complet du programme.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1208" y="1975104"/>
            <a:ext cx="3913632" cy="411480"/>
          </a:xfrm>
          <a:prstGeom prst="rect">
            <a:avLst/>
          </a:prstGeom>
          <a:solidFill>
            <a:srgbClr val="2A1800"/>
          </a:solidFill>
          <a:ln w="6350">
            <a:solidFill>
              <a:srgbClr val="9A72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11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LOGIN_ADMIN = "admin"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MDP_ADMIN   = "1234"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2633472"/>
            <a:ext cx="4160520" cy="1965960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2633472"/>
            <a:ext cx="54864" cy="1965960"/>
          </a:xfrm>
          <a:prstGeom prst="rect">
            <a:avLst/>
          </a:prstGeom>
          <a:solidFill>
            <a:srgbClr val="2E4A6E"/>
          </a:solidFill>
          <a:ln w="12700">
            <a:solidFill>
              <a:srgbClr val="2E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6883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Arborescence des menus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" y="29992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menu_principal()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menu_etudiants()    [6 actions]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menu_chambres()     [5 actions]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menu_paiements()    [6 actions]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menu_reclamations() [6 actions]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C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tableau_de_bord()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115568"/>
            <a:ext cx="3995928" cy="349300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115568"/>
            <a:ext cx="54864" cy="3493008"/>
          </a:xfrm>
          <a:prstGeom prst="rect">
            <a:avLst/>
          </a:prstGeom>
          <a:solidFill>
            <a:srgbClr val="7D2E2E"/>
          </a:solidFill>
          <a:ln w="12700">
            <a:solidFill>
              <a:srgbClr val="7D2E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170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 Flux d'exécution — main()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1554480"/>
            <a:ext cx="3749040" cy="566928"/>
          </a:xfrm>
          <a:prstGeom prst="rect">
            <a:avLst/>
          </a:prstGeom>
          <a:solidFill>
            <a:srgbClr val="DFD5B8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61848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charger_donnees_demo()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56048" y="1874520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étudiants · 3 chambres · 3 paiements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21762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4A24A"/>
                </a:solidFill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92040" y="2359152"/>
            <a:ext cx="3749040" cy="56692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423160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authentifier()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56048" y="2679192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essais — échec = fermeture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29809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4A24A"/>
                </a:solidFill>
              </a:rPr>
              <a:t>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92040" y="3163824"/>
            <a:ext cx="3749040" cy="56692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227832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menu_principal()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56048" y="3483864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Boucle do-while jusqu'au choix 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37856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4A24A"/>
                </a:solidFill>
              </a:rPr>
              <a:t>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892040" y="3968496"/>
            <a:ext cx="3749040" cy="502920"/>
          </a:xfrm>
          <a:prstGeom prst="rect">
            <a:avLst/>
          </a:prstGeom>
          <a:solidFill>
            <a:srgbClr val="DFD5B8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4032504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 0 — Au revoir 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9A7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D'ENSEMBLE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84048" y="47548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de bord — statistiques calculées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8138160" cy="0"/>
          </a:xfrm>
          <a:prstGeom prst="line">
            <a:avLst/>
          </a:prstGeom>
          <a:noFill/>
          <a:ln w="10160">
            <a:solidFill>
              <a:srgbClr val="C4A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115568"/>
            <a:ext cx="1993392" cy="1188720"/>
          </a:xfrm>
          <a:prstGeom prst="rect">
            <a:avLst/>
          </a:prstGeom>
          <a:solidFill>
            <a:srgbClr val="E8DFC8"/>
          </a:solidFill>
          <a:ln w="10160">
            <a:solidFill>
              <a:srgbClr val="3A5C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115568"/>
            <a:ext cx="1993392" cy="64008"/>
          </a:xfrm>
          <a:prstGeom prst="rect">
            <a:avLst/>
          </a:prstGeom>
          <a:solidFill>
            <a:srgbClr val="3A5C2E"/>
          </a:solidFill>
          <a:ln w="12700">
            <a:solidFill>
              <a:srgbClr val="3A5C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61872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29768" y="190195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ÉTUDIANTS MAX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32888" y="1115568"/>
            <a:ext cx="1993392" cy="1188720"/>
          </a:xfrm>
          <a:prstGeom prst="rect">
            <a:avLst/>
          </a:prstGeom>
          <a:solidFill>
            <a:srgbClr val="E8DFC8"/>
          </a:solidFill>
          <a:ln w="10160">
            <a:solidFill>
              <a:srgbClr val="2E4A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32888" y="1115568"/>
            <a:ext cx="1993392" cy="64008"/>
          </a:xfrm>
          <a:prstGeom prst="rect">
            <a:avLst/>
          </a:prstGeom>
          <a:solidFill>
            <a:srgbClr val="2E4A6E"/>
          </a:solidFill>
          <a:ln w="12700">
            <a:solidFill>
              <a:srgbClr val="2E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2888" y="1261872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4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578608" y="190195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CHAMBRES MAX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81728" y="1115568"/>
            <a:ext cx="1993392" cy="1188720"/>
          </a:xfrm>
          <a:prstGeom prst="rect">
            <a:avLst/>
          </a:prstGeom>
          <a:solidFill>
            <a:srgbClr val="E8DFC8"/>
          </a:solidFill>
          <a:ln w="10160">
            <a:solidFill>
              <a:srgbClr val="9A72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1728" y="1115568"/>
            <a:ext cx="1993392" cy="64008"/>
          </a:xfrm>
          <a:prstGeom prst="rect">
            <a:avLst/>
          </a:prstGeom>
          <a:solidFill>
            <a:srgbClr val="9A7230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1261872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9A7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727448" y="190195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PAIEMENTS MAX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30568" y="1115568"/>
            <a:ext cx="1993392" cy="1188720"/>
          </a:xfrm>
          <a:prstGeom prst="rect">
            <a:avLst/>
          </a:prstGeom>
          <a:solidFill>
            <a:srgbClr val="E8DFC8"/>
          </a:solidFill>
          <a:ln w="10160">
            <a:solidFill>
              <a:srgbClr val="7D2E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30568" y="1115568"/>
            <a:ext cx="1993392" cy="64008"/>
          </a:xfrm>
          <a:prstGeom prst="rect">
            <a:avLst/>
          </a:prstGeom>
          <a:solidFill>
            <a:srgbClr val="7D2E2E"/>
          </a:solidFill>
          <a:ln w="12700">
            <a:solidFill>
              <a:srgbClr val="7D2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0568" y="1261872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7D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876288" y="190195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RÉCLAMATIONS MAX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84048" y="2487168"/>
            <a:ext cx="8375904" cy="47548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487168"/>
            <a:ext cx="45720" cy="475488"/>
          </a:xfrm>
          <a:prstGeom prst="rect">
            <a:avLst/>
          </a:prstGeom>
          <a:solidFill>
            <a:srgbClr val="3A5C2E"/>
          </a:solidFill>
          <a:ln w="12700">
            <a:solidFill>
              <a:srgbClr val="3A5C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55117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Taux d'occupation des chambres (%)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275234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Total_occ / Total_cap × 100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06640" y="2606040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DFD5B8"/>
          </a:solidFill>
          <a:ln w="6350">
            <a:solidFill>
              <a:srgbClr val="3A5C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43216" y="262432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3A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Calculé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84048" y="3035808"/>
            <a:ext cx="8375904" cy="47548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3035808"/>
            <a:ext cx="45720" cy="475488"/>
          </a:xfrm>
          <a:prstGeom prst="rect">
            <a:avLst/>
          </a:prstGeom>
          <a:solidFill>
            <a:srgbClr val="9A7230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09981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encaissé / en attente / retard (DT)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33009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Boucle sur tab_paiements[]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06640" y="3154680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DFD5B8"/>
          </a:solidFill>
          <a:ln w="6350">
            <a:solidFill>
              <a:srgbClr val="9A72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43216" y="317296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A7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84048" y="3584448"/>
            <a:ext cx="8375904" cy="47548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" y="3584448"/>
            <a:ext cx="45720" cy="475488"/>
          </a:xfrm>
          <a:prstGeom prst="rect">
            <a:avLst/>
          </a:prstGeom>
          <a:solidFill>
            <a:srgbClr val="2E4A6E"/>
          </a:solidFill>
          <a:ln w="12700">
            <a:solidFill>
              <a:srgbClr val="2E4A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64845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Chambres disponibles vs en maintenance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384962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strcasecmp sur statut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06640" y="3703320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DFD5B8"/>
          </a:solidFill>
          <a:ln w="6350">
            <a:solidFill>
              <a:srgbClr val="2E4A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43216" y="372160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E4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Calculé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84048" y="4133088"/>
            <a:ext cx="8375904" cy="475488"/>
          </a:xfrm>
          <a:prstGeom prst="rect">
            <a:avLst/>
          </a:prstGeom>
          <a:solidFill>
            <a:srgbClr val="E8DFC8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4048" y="4133088"/>
            <a:ext cx="45720" cy="475488"/>
          </a:xfrm>
          <a:prstGeom prst="rect">
            <a:avLst/>
          </a:prstGeom>
          <a:solidFill>
            <a:srgbClr val="7D2E2E"/>
          </a:solidFill>
          <a:ln w="12700">
            <a:solidFill>
              <a:srgbClr val="7D2E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19709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Réclamations ouvertes / en cours / résolues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2920" y="439826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Compteurs par statut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406640" y="4251960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DFD5B8"/>
          </a:solidFill>
          <a:ln w="6350">
            <a:solidFill>
              <a:srgbClr val="7D2E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3216" y="427024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D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Calculé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C3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274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9A7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BILAN DU PROJET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kern="0" spc="600" dirty="0">
                <a:solidFill>
                  <a:srgbClr val="C4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✦ 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D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nous avons réalisé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8138160" cy="0"/>
          </a:xfrm>
          <a:prstGeom prst="line">
            <a:avLst/>
          </a:prstGeom>
          <a:noFill/>
          <a:ln w="10160">
            <a:solidFill>
              <a:srgbClr val="C4A2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554480"/>
            <a:ext cx="4114800" cy="530352"/>
          </a:xfrm>
          <a:prstGeom prst="rect">
            <a:avLst/>
          </a:prstGeom>
          <a:solidFill>
            <a:srgbClr val="3B2510">
              <a:alpha val="16000"/>
            </a:srgbClr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554480"/>
            <a:ext cx="54864" cy="530352"/>
          </a:xfrm>
          <a:prstGeom prst="rect">
            <a:avLst/>
          </a:prstGeom>
          <a:solidFill>
            <a:srgbClr val="3A5C2E"/>
          </a:solidFill>
          <a:ln w="12700">
            <a:solidFill>
              <a:srgbClr val="3A5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37360"/>
            <a:ext cx="164592" cy="164592"/>
          </a:xfrm>
          <a:prstGeom prst="ellipse">
            <a:avLst/>
          </a:prstGeom>
          <a:solidFill>
            <a:srgbClr val="3A5C2E"/>
          </a:solidFill>
          <a:ln w="12700">
            <a:solidFill>
              <a:srgbClr val="3A5C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459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C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modulaire en C avec 4 modules complets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" y="2212848"/>
            <a:ext cx="4114800" cy="530352"/>
          </a:xfrm>
          <a:prstGeom prst="rect">
            <a:avLst/>
          </a:prstGeom>
          <a:solidFill>
            <a:srgbClr val="3B2510">
              <a:alpha val="16000"/>
            </a:srgbClr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212848"/>
            <a:ext cx="54864" cy="530352"/>
          </a:xfrm>
          <a:prstGeom prst="rect">
            <a:avLst/>
          </a:prstGeom>
          <a:solidFill>
            <a:srgbClr val="2E4A6E"/>
          </a:solidFill>
          <a:ln w="12700">
            <a:solidFill>
              <a:srgbClr val="2E4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95728"/>
            <a:ext cx="164592" cy="164592"/>
          </a:xfrm>
          <a:prstGeom prst="ellipse">
            <a:avLst/>
          </a:prstGeom>
          <a:solidFill>
            <a:srgbClr val="2E4A6E"/>
          </a:solidFill>
          <a:ln w="12700">
            <a:solidFill>
              <a:srgbClr val="2E4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3042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C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Structures de données et tableaux globaux (static arrays)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4048" y="2871216"/>
            <a:ext cx="4114800" cy="530352"/>
          </a:xfrm>
          <a:prstGeom prst="rect">
            <a:avLst/>
          </a:prstGeom>
          <a:solidFill>
            <a:srgbClr val="3B2510">
              <a:alpha val="16000"/>
            </a:srgbClr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871216"/>
            <a:ext cx="54864" cy="530352"/>
          </a:xfrm>
          <a:prstGeom prst="rect">
            <a:avLst/>
          </a:prstGeom>
          <a:solidFill>
            <a:srgbClr val="9A7230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054096"/>
            <a:ext cx="164592" cy="164592"/>
          </a:xfrm>
          <a:prstGeom prst="ellipse">
            <a:avLst/>
          </a:prstGeom>
          <a:solidFill>
            <a:srgbClr val="9A7230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9626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C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 terminal avec menus hiérarchiques (do-while)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45152" y="1554480"/>
            <a:ext cx="4114800" cy="530352"/>
          </a:xfrm>
          <a:prstGeom prst="rect">
            <a:avLst/>
          </a:prstGeom>
          <a:solidFill>
            <a:srgbClr val="49301A"/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45152" y="1554480"/>
            <a:ext cx="54864" cy="530352"/>
          </a:xfrm>
          <a:prstGeom prst="rect">
            <a:avLst/>
          </a:prstGeom>
          <a:solidFill>
            <a:srgbClr val="7D2E2E"/>
          </a:solidFill>
          <a:ln w="12700">
            <a:solidFill>
              <a:srgbClr val="7D2E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1737360"/>
            <a:ext cx="164592" cy="164592"/>
          </a:xfrm>
          <a:prstGeom prst="ellipse">
            <a:avLst/>
          </a:prstGeom>
          <a:solidFill>
            <a:srgbClr val="7D2E2E"/>
          </a:solidFill>
          <a:ln w="12700">
            <a:solidFill>
              <a:srgbClr val="7D2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84064" y="16459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C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CRUD complet + fonctions spécialisées par module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45152" y="2212848"/>
            <a:ext cx="4114800" cy="530352"/>
          </a:xfrm>
          <a:prstGeom prst="rect">
            <a:avLst/>
          </a:prstGeom>
          <a:solidFill>
            <a:srgbClr val="3B2510">
              <a:alpha val="16000"/>
            </a:srgbClr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45152" y="2212848"/>
            <a:ext cx="54864" cy="530352"/>
          </a:xfrm>
          <a:prstGeom prst="rect">
            <a:avLst/>
          </a:prstGeom>
          <a:solidFill>
            <a:srgbClr val="3A5C2E"/>
          </a:solidFill>
          <a:ln w="12700">
            <a:solidFill>
              <a:srgbClr val="3A5C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28032" y="2395728"/>
            <a:ext cx="164592" cy="164592"/>
          </a:xfrm>
          <a:prstGeom prst="ellipse">
            <a:avLst/>
          </a:prstGeom>
          <a:solidFill>
            <a:srgbClr val="3A5C2E"/>
          </a:solidFill>
          <a:ln w="12700">
            <a:solidFill>
              <a:srgbClr val="3A5C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84064" y="23042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C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Authentification sécurisée — 3 tentatives max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45152" y="2871216"/>
            <a:ext cx="4114800" cy="530352"/>
          </a:xfrm>
          <a:prstGeom prst="rect">
            <a:avLst/>
          </a:prstGeom>
          <a:solidFill>
            <a:srgbClr val="3B2510">
              <a:alpha val="16000"/>
            </a:srgbClr>
          </a:solidFill>
          <a:ln w="6350">
            <a:solidFill>
              <a:srgbClr val="C4A2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45152" y="2871216"/>
            <a:ext cx="54864" cy="530352"/>
          </a:xfrm>
          <a:prstGeom prst="rect">
            <a:avLst/>
          </a:prstGeom>
          <a:solidFill>
            <a:srgbClr val="2E4A6E"/>
          </a:solidFill>
          <a:ln w="12700">
            <a:solidFill>
              <a:srgbClr val="2E4A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28032" y="3054096"/>
            <a:ext cx="164592" cy="164592"/>
          </a:xfrm>
          <a:prstGeom prst="ellipse">
            <a:avLst/>
          </a:prstGeom>
          <a:solidFill>
            <a:srgbClr val="2E4A6E"/>
          </a:solidFill>
          <a:ln w="12700">
            <a:solidFill>
              <a:srgbClr val="2E4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84064" y="29626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C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de bord avec statistiques calculées en temps réel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4526280"/>
            <a:ext cx="8138160" cy="0"/>
          </a:xfrm>
          <a:prstGeom prst="line">
            <a:avLst/>
          </a:prstGeom>
          <a:noFill/>
          <a:ln w="10160">
            <a:solidFill>
              <a:srgbClr val="C4A2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61772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"Un logiciel de gestion bien conçu automatise l'essentiel et libère l'humain pour l'important."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491032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8B6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ISGB ·  Dr. Karim Fathallah  ·  2025–2026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1154</Words>
  <Application>Microsoft Office PowerPoint</Application>
  <PresentationFormat>Affichage à l'écran (16:9)</PresentationFormat>
  <Paragraphs>273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Courier New</vt:lpstr>
      <vt:lpstr>Gabriola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de Foyer Universitaire – Projet ASD2</dc:title>
  <dc:subject>PptxGenJS Presentation</dc:subject>
  <dc:creator>Projet ASD2 1LIG</dc:creator>
  <cp:lastModifiedBy>akariabir30@outlook.fr</cp:lastModifiedBy>
  <cp:revision>5</cp:revision>
  <dcterms:created xsi:type="dcterms:W3CDTF">2026-05-04T11:11:48Z</dcterms:created>
  <dcterms:modified xsi:type="dcterms:W3CDTF">2026-05-04T14:40:52Z</dcterms:modified>
</cp:coreProperties>
</file>